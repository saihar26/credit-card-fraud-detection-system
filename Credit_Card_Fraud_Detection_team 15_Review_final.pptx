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03B9F5A-25C0-55C3-4263-D71A79A1B845}">
          <p14:sldIdLst>
            <p14:sldId id="256"/>
            <p14:sldId id="257"/>
          </p14:sldIdLst>
        </p14:section>
        <p14:section name="Data &amp; Models" id="{9697E385-7522-8B44-DEA9-E028EAA67724}">
          <p14:sldIdLst>
            <p14:sldId id="258"/>
            <p14:sldId id="259"/>
            <p14:sldId id="260"/>
          </p14:sldIdLst>
        </p14:section>
        <p14:section name="System &amp; Results" id="{FEC8D212-4C2A-F2EB-7AD8-189B45B55DE5}">
          <p14:sldIdLst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+mn-lt"/>
              </a:rPr>
              <a:t>Class imbalance (training 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transactions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94-4131-A294-5A4E150408EA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94-4131-A294-5A4E150408E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Legitimate</c:v>
                </c:pt>
                <c:pt idx="1">
                  <c:v>Fraudulent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1289169</c:v>
                </c:pt>
                <c:pt idx="1">
                  <c:v>7506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94-4131-A294-5A4E150408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lang="en-IN" sz="1000" b="0" i="0" u="none" strike="noStrike">
                <a:solidFill>
                  <a:srgbClr val="FFFFFF"/>
                </a:solidFill>
                <a:latin typeface="+mn-lt"/>
              </a:rPr>
              <a:t>F1-score vs PR-AUC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LogReg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12.99</c:v>
                </c:pt>
                <c:pt idx="1">
                  <c:v>57.32</c:v>
                </c:pt>
                <c:pt idx="2">
                  <c:v>79.8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1A-4FD0-94A7-9A0CC05C7E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 (×100)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LogReg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4.3499999999999996</c:v>
                </c:pt>
                <c:pt idx="1">
                  <c:v>82</c:v>
                </c:pt>
                <c:pt idx="2">
                  <c:v>85.37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1A-4FD0-94A7-9A0CC05C7E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+mn-lt"/>
              </a:rPr>
              <a:t>XGBoost: default 0.50 vs selected 0.25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0.50 (default, Slide 4)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95.88</c:v>
                </c:pt>
                <c:pt idx="1">
                  <c:v>68.34</c:v>
                </c:pt>
                <c:pt idx="2">
                  <c:v>79.8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FD-42EE-B580-91D9225453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0.25 (selected)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91.53</c:v>
                </c:pt>
                <c:pt idx="1">
                  <c:v>72.540000000000006</c:v>
                </c:pt>
                <c:pt idx="2">
                  <c:v>80.94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FD-42EE-B580-91D9225453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620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the four screenshots over the dashed placeholders (Insert &gt; Picture), then delete the "Insert screenshot" text/boxes behind them. Placeholders are named "Screenshot placeholder 1-4" in the Selection Pane.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96112"/>
            <a:ext cx="1097280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Credit Card Fraud Detection System  |  B.Tech IT — Review II  |  Aditya University</a:t>
            </a:r>
            <a:endParaRPr lang="en-US" sz="90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914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Credit Card Fraud Detection System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Machine Learning Based Fraud Detection, Risk Prediction &amp; Explainable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097280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926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B.Tech Information Technology 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Department of Information Technology, Aditya University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Academic Year: 2026–2027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Project Guide: </a:t>
            </a:r>
            <a:r>
              <a:rPr lang="en-US" sz="1100" dirty="0">
                <a:solidFill>
                  <a:schemeClr val="bg1"/>
                </a:solidFill>
              </a:rPr>
              <a:t>Mrs. J. Divya Lalitha Sri</a:t>
            </a:r>
            <a:endParaRPr lang="en-US" sz="1100" dirty="0"/>
          </a:p>
        </p:txBody>
      </p:sp>
      <p:sp>
        <p:nvSpPr>
          <p:cNvPr id="9" name="Card visual"/>
          <p:cNvSpPr/>
          <p:nvPr/>
        </p:nvSpPr>
        <p:spPr>
          <a:xfrm>
            <a:off x="5943600" y="502920"/>
            <a:ext cx="2743200" cy="164592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Card chip"/>
          <p:cNvSpPr/>
          <p:nvPr/>
        </p:nvSpPr>
        <p:spPr>
          <a:xfrm>
            <a:off x="6172200" y="822960"/>
            <a:ext cx="457200" cy="347472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554480"/>
            <a:ext cx="2286000" cy="3657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1737360"/>
            <a:ext cx="1371600" cy="36576"/>
          </a:xfrm>
          <a:prstGeom prst="rect">
            <a:avLst/>
          </a:prstGeom>
          <a:solidFill>
            <a:schemeClr val="accent5"/>
          </a:solidFill>
          <a:ln/>
        </p:spPr>
      </p:sp>
      <p:pic>
        <p:nvPicPr>
          <p:cNvPr id="13" name="Image 0" descr="Shiel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731520"/>
            <a:ext cx="548640" cy="5486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5216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Submitted by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26974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24B11IT097 — Sai Harini Singineedi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24B11IT072 — Nalli Praneesha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24B11IT083 — Pedapudi Snehalatha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25B21IT007 — Muralasetti Anantha Lakshmi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Introduction &amp; Problem Statement</a:t>
            </a:r>
            <a:endParaRPr lang="en-US" sz="26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097280"/>
            <a:ext cx="4023360" cy="3063240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Credit card fraud causes financial losses for customers and financial institutions.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Fraudulent transactions can resemble legitimate transactions.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Large transaction volumes make manual monitoring difficult.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Fraud cases form a very small proportion of transactions.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False alerts create unnecessary investigation effort and customer inconvenience.</a:t>
            </a:r>
            <a:endParaRPr lang="en-US" sz="1100" dirty="0"/>
          </a:p>
        </p:txBody>
      </p:sp>
      <p:sp>
        <p:nvSpPr>
          <p:cNvPr id="6" name="Objectives card"/>
          <p:cNvSpPr/>
          <p:nvPr/>
        </p:nvSpPr>
        <p:spPr>
          <a:xfrm>
            <a:off x="4663440" y="1097280"/>
            <a:ext cx="4023360" cy="3063240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Project Objectives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chemeClr val="bg1"/>
                </a:solidFill>
              </a:rPr>
              <a:t>Develop a machine learning-based fraud detection system.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chemeClr val="bg1"/>
                </a:solidFill>
              </a:rPr>
              <a:t>Engineer transaction, temporal, geographic, and behavioral features.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chemeClr val="bg1"/>
                </a:solidFill>
              </a:rPr>
              <a:t>Train and compare Logistic Regression, Random Forest, and XGBoost.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chemeClr val="bg1"/>
                </a:solidFill>
              </a:rPr>
              <a:t>Evaluate models using appropriate classification metrics.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chemeClr val="bg1"/>
                </a:solidFill>
              </a:rPr>
              <a:t>Optimize the classification threshold.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chemeClr val="bg1"/>
                </a:solidFill>
              </a:rPr>
              <a:t>Explain predictions using SHAP.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chemeClr val="bg1"/>
                </a:solidFill>
              </a:rPr>
              <a:t>Build a web interface showing fraud probability, risk level, and contributing factors.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Shape 10"/>
          <p:cNvSpPr/>
          <p:nvPr/>
        </p:nvSpPr>
        <p:spPr>
          <a:xfrm>
            <a:off x="1225296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Shape 11"/>
          <p:cNvSpPr/>
          <p:nvPr/>
        </p:nvSpPr>
        <p:spPr>
          <a:xfrm>
            <a:off x="1481328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Shape 13"/>
          <p:cNvSpPr/>
          <p:nvPr/>
        </p:nvSpPr>
        <p:spPr>
          <a:xfrm>
            <a:off x="1993392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Shape 14"/>
          <p:cNvSpPr/>
          <p:nvPr/>
        </p:nvSpPr>
        <p:spPr>
          <a:xfrm>
            <a:off x="2249424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Shape 15"/>
          <p:cNvSpPr/>
          <p:nvPr/>
        </p:nvSpPr>
        <p:spPr>
          <a:xfrm>
            <a:off x="2505456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Shape 16"/>
          <p:cNvSpPr/>
          <p:nvPr/>
        </p:nvSpPr>
        <p:spPr>
          <a:xfrm>
            <a:off x="2761488" y="4370832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9" name="Shape 17"/>
          <p:cNvSpPr/>
          <p:nvPr/>
        </p:nvSpPr>
        <p:spPr>
          <a:xfrm>
            <a:off x="3017520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Shape 18"/>
          <p:cNvSpPr/>
          <p:nvPr/>
        </p:nvSpPr>
        <p:spPr>
          <a:xfrm>
            <a:off x="3273552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Shape 19"/>
          <p:cNvSpPr/>
          <p:nvPr/>
        </p:nvSpPr>
        <p:spPr>
          <a:xfrm>
            <a:off x="3529584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Shape 20"/>
          <p:cNvSpPr/>
          <p:nvPr/>
        </p:nvSpPr>
        <p:spPr>
          <a:xfrm>
            <a:off x="3785616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Shape 21"/>
          <p:cNvSpPr/>
          <p:nvPr/>
        </p:nvSpPr>
        <p:spPr>
          <a:xfrm>
            <a:off x="4041648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Shape 23"/>
          <p:cNvSpPr/>
          <p:nvPr/>
        </p:nvSpPr>
        <p:spPr>
          <a:xfrm>
            <a:off x="4553712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9744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Shape 25"/>
          <p:cNvSpPr/>
          <p:nvPr/>
        </p:nvSpPr>
        <p:spPr>
          <a:xfrm>
            <a:off x="5065776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Shape 26"/>
          <p:cNvSpPr/>
          <p:nvPr/>
        </p:nvSpPr>
        <p:spPr>
          <a:xfrm>
            <a:off x="5321808" y="4370832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9" name="Shape 27"/>
          <p:cNvSpPr/>
          <p:nvPr/>
        </p:nvSpPr>
        <p:spPr>
          <a:xfrm>
            <a:off x="5577840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Shape 28"/>
          <p:cNvSpPr/>
          <p:nvPr/>
        </p:nvSpPr>
        <p:spPr>
          <a:xfrm>
            <a:off x="5833872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Shape 29"/>
          <p:cNvSpPr/>
          <p:nvPr/>
        </p:nvSpPr>
        <p:spPr>
          <a:xfrm>
            <a:off x="6089904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Shape 30"/>
          <p:cNvSpPr/>
          <p:nvPr/>
        </p:nvSpPr>
        <p:spPr>
          <a:xfrm>
            <a:off x="6345936" y="43708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20840" y="4370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accent5"/>
                </a:solidFill>
              </a:rPr>
              <a:t>Illustrative: legitimate (blue) vs suspicious (amber)</a:t>
            </a:r>
            <a:endParaRPr lang="en-US" sz="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Dataset &amp; Preprocessing</a:t>
            </a:r>
            <a:endParaRPr lang="en-US" sz="2600" dirty="0"/>
          </a:p>
        </p:txBody>
      </p:sp>
      <p:graphicFrame>
        <p:nvGraphicFramePr>
          <p:cNvPr id="4" name="Dataset sta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023360" cy="8229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Legitimate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Fraudulent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1,296,675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1,289,169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555,719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553,574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Chart 0"/>
          <p:cNvGraphicFramePr/>
          <p:nvPr/>
        </p:nvGraphicFramePr>
        <p:xfrm>
          <a:off x="457200" y="2057400"/>
          <a:ext cx="40233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Pipeline card"/>
          <p:cNvSpPr/>
          <p:nvPr/>
        </p:nvSpPr>
        <p:spPr>
          <a:xfrm>
            <a:off x="4663440" y="232976"/>
            <a:ext cx="4023360" cy="2457450"/>
          </a:xfrm>
          <a:prstGeom prst="roundRect">
            <a:avLst>
              <a:gd name="adj" fmla="val 2462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846320" y="2433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Preprocessing pipeline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846320" y="556768"/>
            <a:ext cx="3657600" cy="201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bg1"/>
                </a:solidFill>
              </a:rPr>
              <a:t>Load and inspect the datasets.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bg1"/>
                </a:solidFill>
              </a:rPr>
              <a:t>Convert timestamps; sort chronologically.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bg1"/>
                </a:solidFill>
              </a:rPr>
              <a:t>Extract hour, day, month, day of week, weekend features.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bg1"/>
                </a:solidFill>
              </a:rPr>
              <a:t>Engineer age, merchant distance, previous transaction amount and count, historical average amount, time since previous transaction, amount deviation.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bg1"/>
                </a:solidFill>
              </a:rPr>
              <a:t>Encode merchant, category, state, gender (pandas categorical codes).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bg1"/>
                </a:solidFill>
              </a:rPr>
              <a:t>Fill numeric missing values with training-data medians.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bg1"/>
                </a:solidFill>
              </a:rPr>
              <a:t>Drop unnecessary columns.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bg1"/>
                </a:solidFill>
              </a:rPr>
              <a:t>Prepare 18 model input features.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0CAA9E-4B9B-4C93-AD0C-58899CF2B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138881"/>
            <a:ext cx="4409440" cy="18903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D945B3-7F1A-453D-8D35-B67F3862DFF6}"/>
              </a:ext>
            </a:extLst>
          </p:cNvPr>
          <p:cNvSpPr txBox="1"/>
          <p:nvPr/>
        </p:nvSpPr>
        <p:spPr>
          <a:xfrm>
            <a:off x="4480560" y="2809101"/>
            <a:ext cx="2021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First 5 rows:</a:t>
            </a:r>
            <a:endParaRPr lang="en-IN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Model Development &amp; Performance Comparison</a:t>
            </a:r>
            <a:endParaRPr lang="en-US" sz="2600" dirty="0"/>
          </a:p>
        </p:txBody>
      </p:sp>
      <p:sp>
        <p:nvSpPr>
          <p:cNvPr id="3" name="Model card Logistic Regression"/>
          <p:cNvSpPr/>
          <p:nvPr/>
        </p:nvSpPr>
        <p:spPr>
          <a:xfrm>
            <a:off x="457200" y="1051560"/>
            <a:ext cx="26060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71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Baseline linear classification model.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Benchmark for comparison.</a:t>
            </a:r>
            <a:endParaRPr lang="en-US" sz="900" dirty="0"/>
          </a:p>
        </p:txBody>
      </p:sp>
      <p:sp>
        <p:nvSpPr>
          <p:cNvPr id="6" name="Model card Random Forest"/>
          <p:cNvSpPr/>
          <p:nvPr/>
        </p:nvSpPr>
        <p:spPr>
          <a:xfrm>
            <a:off x="3246120" y="1051560"/>
            <a:ext cx="26060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097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371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Ensemble of decision trees.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Captures nonlinear patterns and feature interactions.</a:t>
            </a:r>
            <a:endParaRPr lang="en-US" sz="900" dirty="0"/>
          </a:p>
        </p:txBody>
      </p:sp>
      <p:sp>
        <p:nvSpPr>
          <p:cNvPr id="9" name="Model card XGBoost"/>
          <p:cNvSpPr/>
          <p:nvPr/>
        </p:nvSpPr>
        <p:spPr>
          <a:xfrm>
            <a:off x="6035040" y="1051560"/>
            <a:ext cx="26060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097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XGBoost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371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Gradient-boosting model.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Selected as the final model based on overall evaluation.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299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Test results at classification threshold 0.50</a:t>
            </a:r>
            <a:endParaRPr lang="en-US" sz="1050" dirty="0"/>
          </a:p>
        </p:txBody>
      </p:sp>
      <p:graphicFrame>
        <p:nvGraphicFramePr>
          <p:cNvPr id="13" name="Model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212080" cy="148132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Chart 0"/>
          <p:cNvGraphicFramePr/>
          <p:nvPr/>
        </p:nvGraphicFramePr>
        <p:xfrm>
          <a:off x="5760720" y="2011680"/>
          <a:ext cx="30175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Precision: </a:t>
            </a:r>
            <a:r>
              <a:rPr lang="en-US" sz="850" dirty="0">
                <a:solidFill>
                  <a:schemeClr val="bg2"/>
                </a:solidFill>
              </a:rPr>
              <a:t>share of predicted fraud cases that were actually fraud.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Recall: </a:t>
            </a:r>
            <a:r>
              <a:rPr lang="en-US" sz="850" dirty="0">
                <a:solidFill>
                  <a:schemeClr val="bg2"/>
                </a:solidFill>
              </a:rPr>
              <a:t>share of actual fraud cases detected.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F1-score: </a:t>
            </a:r>
            <a:r>
              <a:rPr lang="en-US" sz="850" dirty="0">
                <a:solidFill>
                  <a:schemeClr val="bg2"/>
                </a:solidFill>
              </a:rPr>
              <a:t>harmonic mean of precision and recall.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ROC-AUC: </a:t>
            </a:r>
            <a:r>
              <a:rPr lang="en-US" sz="850" dirty="0">
                <a:solidFill>
                  <a:schemeClr val="bg2"/>
                </a:solidFill>
              </a:rPr>
              <a:t>class discrimination across thresholds.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PR-AUC: </a:t>
            </a:r>
            <a:r>
              <a:rPr lang="en-US" sz="850" dirty="0">
                <a:solidFill>
                  <a:schemeClr val="bg2"/>
                </a:solidFill>
              </a:rPr>
              <a:t>precision–recall trade-off; especially informative for imbalanced data.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Why We Selected XGBoost</a:t>
            </a:r>
            <a:endParaRPr lang="en-US" sz="2600" dirty="0"/>
          </a:p>
        </p:txBody>
      </p:sp>
      <p:sp>
        <p:nvSpPr>
          <p:cNvPr id="3" name="Rationale card"/>
          <p:cNvSpPr/>
          <p:nvPr/>
        </p:nvSpPr>
        <p:spPr>
          <a:xfrm>
            <a:off x="457200" y="1097280"/>
            <a:ext cx="411480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Selection rationale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Highest F1-score of the three models at threshold 0.50.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Highest ROC-AUC and PR-AUC.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Detected more fraudulent transactions than the others at the default threshold.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SHAP TreeExplainer supports interpretation of its predictions.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Trained with scale_pos_weight = 171.75 to handle class imbalance.</a:t>
            </a:r>
            <a:endParaRPr lang="en-US" sz="1050" dirty="0"/>
          </a:p>
        </p:txBody>
      </p:sp>
      <p:sp>
        <p:nvSpPr>
          <p:cNvPr id="6" name="Threshold card"/>
          <p:cNvSpPr/>
          <p:nvPr/>
        </p:nvSpPr>
        <p:spPr>
          <a:xfrm>
            <a:off x="457200" y="3429000"/>
            <a:ext cx="41148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Threshold optimization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856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Thresholds 0.10–0.90 were tested in steps of 0.05. 0.25 gave the highest F1-score among them — it is the selected operating threshold for this application, not a universally optimal one.</a:t>
            </a:r>
            <a:endParaRPr lang="en-US" sz="1000" dirty="0"/>
          </a:p>
        </p:txBody>
      </p:sp>
      <p:sp>
        <p:nvSpPr>
          <p:cNvPr id="9" name="Metric Precision"/>
          <p:cNvSpPr/>
          <p:nvPr/>
        </p:nvSpPr>
        <p:spPr>
          <a:xfrm>
            <a:off x="4754880" y="109728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91.53%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</a:rPr>
              <a:t>Precision @ 0.25</a:t>
            </a:r>
            <a:endParaRPr lang="en-US" sz="950" dirty="0"/>
          </a:p>
        </p:txBody>
      </p:sp>
      <p:sp>
        <p:nvSpPr>
          <p:cNvPr id="12" name="Metric Recall"/>
          <p:cNvSpPr/>
          <p:nvPr/>
        </p:nvSpPr>
        <p:spPr>
          <a:xfrm>
            <a:off x="6126480" y="109728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72.54%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</a:rPr>
              <a:t>Recall @ 0.25</a:t>
            </a:r>
            <a:endParaRPr lang="en-US" sz="950" dirty="0"/>
          </a:p>
        </p:txBody>
      </p:sp>
      <p:sp>
        <p:nvSpPr>
          <p:cNvPr id="15" name="Metric F1-score"/>
          <p:cNvSpPr/>
          <p:nvPr/>
        </p:nvSpPr>
        <p:spPr>
          <a:xfrm>
            <a:off x="7498080" y="109728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80.94%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</a:rPr>
              <a:t>F1-score @ 0.25</a:t>
            </a:r>
            <a:endParaRPr lang="en-US" sz="9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663440" y="2148840"/>
          <a:ext cx="411480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66344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At threshold 0.25:  TP 1,556  |  TN 553,430  |  FP 144  |  FN 589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Arch box 1"/>
          <p:cNvSpPr/>
          <p:nvPr/>
        </p:nvSpPr>
        <p:spPr>
          <a:xfrm>
            <a:off x="457200" y="109728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887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1  Raw Transaction Dataset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fraudTrain.csv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fraudTest.csv</a:t>
            </a:r>
            <a:endParaRPr lang="en-US" sz="900" dirty="0"/>
          </a:p>
        </p:txBody>
      </p:sp>
      <p:sp>
        <p:nvSpPr>
          <p:cNvPr id="6" name="Arch box 2"/>
          <p:cNvSpPr/>
          <p:nvPr/>
        </p:nvSpPr>
        <p:spPr>
          <a:xfrm>
            <a:off x="3429000" y="109728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8728" y="11887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2  Preprocessing &amp; Feature Engineering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538728" y="162763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Timestamp conversion, chronological sort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Temporal, geographic, behavioral features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Categorical encoding, missing values</a:t>
            </a:r>
            <a:endParaRPr lang="en-US" sz="900" dirty="0"/>
          </a:p>
        </p:txBody>
      </p:sp>
      <p:sp>
        <p:nvSpPr>
          <p:cNvPr id="9" name="Arch box 3"/>
          <p:cNvSpPr/>
          <p:nvPr/>
        </p:nvSpPr>
        <p:spPr>
          <a:xfrm>
            <a:off x="6400800" y="109728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11887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3  Model Training &amp; Evaluation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62763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Logistic Regression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Random Forest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XGBoost</a:t>
            </a:r>
            <a:endParaRPr lang="en-US" sz="900" dirty="0"/>
          </a:p>
        </p:txBody>
      </p:sp>
      <p:sp>
        <p:nvSpPr>
          <p:cNvPr id="12" name="Arch box 4"/>
          <p:cNvSpPr/>
          <p:nvPr/>
        </p:nvSpPr>
        <p:spPr>
          <a:xfrm>
            <a:off x="457200" y="288036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 w="3175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9718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4  Selected XGBoost Model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41071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Trained model artifacts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Classification threshold: 0.25</a:t>
            </a:r>
            <a:endParaRPr lang="en-US" sz="900" dirty="0"/>
          </a:p>
        </p:txBody>
      </p:sp>
      <p:sp>
        <p:nvSpPr>
          <p:cNvPr id="15" name="Arch box 5"/>
          <p:cNvSpPr/>
          <p:nvPr/>
        </p:nvSpPr>
        <p:spPr>
          <a:xfrm>
            <a:off x="3429000" y="288036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38728" y="29718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5  Application Layer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341071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FastAPI backend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React frontend</a:t>
            </a:r>
            <a:endParaRPr lang="en-US" sz="900" dirty="0"/>
          </a:p>
        </p:txBody>
      </p:sp>
      <p:sp>
        <p:nvSpPr>
          <p:cNvPr id="18" name="Arch box 6"/>
          <p:cNvSpPr/>
          <p:nvPr/>
        </p:nvSpPr>
        <p:spPr>
          <a:xfrm>
            <a:off x="6400800" y="288036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0528" y="29718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6  Prediction Output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341071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Fraud probability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Risk classification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SHAP-based contributing factors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62656" y="1737360"/>
            <a:ext cx="4297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34456" y="1737360"/>
            <a:ext cx="4297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962656" y="3520440"/>
            <a:ext cx="4297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34456" y="3520440"/>
            <a:ext cx="4297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35240" y="2423160"/>
            <a:ext cx="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91640" y="2651760"/>
            <a:ext cx="5943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1640" y="2651760"/>
            <a:ext cx="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Note: the system is a local prototype. It is not connected to a live bank transaction processing system.</a:t>
            </a:r>
            <a:endParaRPr lang="en-US" sz="1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Implementation Workflow &amp; Execution</a:t>
            </a:r>
            <a:endParaRPr lang="en-US" sz="2600" dirty="0"/>
          </a:p>
        </p:txBody>
      </p:sp>
      <p:sp>
        <p:nvSpPr>
          <p:cNvPr id="3" name="Screenshot placeholder 1"/>
          <p:cNvSpPr/>
          <p:nvPr/>
        </p:nvSpPr>
        <p:spPr>
          <a:xfrm>
            <a:off x="457200" y="1097280"/>
            <a:ext cx="1965960" cy="2057400"/>
          </a:xfrm>
          <a:prstGeom prst="rect">
            <a:avLst/>
          </a:prstGeom>
          <a:solidFill>
            <a:schemeClr val="tx2">
              <a:alpha val="60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965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Insert screenshot 1</a:t>
            </a:r>
            <a:endParaRPr lang="en-US" sz="1000" dirty="0"/>
          </a:p>
        </p:txBody>
      </p:sp>
      <p:sp>
        <p:nvSpPr>
          <p:cNvPr id="7" name="Screenshot placeholder 2"/>
          <p:cNvSpPr/>
          <p:nvPr/>
        </p:nvSpPr>
        <p:spPr>
          <a:xfrm>
            <a:off x="2578608" y="1097280"/>
            <a:ext cx="1965960" cy="2057400"/>
          </a:xfrm>
          <a:prstGeom prst="rect">
            <a:avLst/>
          </a:prstGeom>
          <a:solidFill>
            <a:schemeClr val="tx2">
              <a:alpha val="60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2578608" y="1097280"/>
            <a:ext cx="1965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Insert screenshot 2</a:t>
            </a:r>
            <a:endParaRPr lang="en-US" sz="1000" dirty="0"/>
          </a:p>
        </p:txBody>
      </p:sp>
      <p:sp>
        <p:nvSpPr>
          <p:cNvPr id="15" name="Screenshot placeholder 4"/>
          <p:cNvSpPr/>
          <p:nvPr/>
        </p:nvSpPr>
        <p:spPr>
          <a:xfrm>
            <a:off x="6821424" y="1097280"/>
            <a:ext cx="1965960" cy="2057400"/>
          </a:xfrm>
          <a:prstGeom prst="rect">
            <a:avLst/>
          </a:prstGeom>
          <a:solidFill>
            <a:schemeClr val="tx2">
              <a:alpha val="60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821424" y="1097280"/>
            <a:ext cx="1965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Insert screenshot 4</a:t>
            </a:r>
            <a:endParaRPr lang="en-US" sz="1000" dirty="0"/>
          </a:p>
        </p:txBody>
      </p:sp>
      <p:sp>
        <p:nvSpPr>
          <p:cNvPr id="19" name="Workflow bar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Load Data → Preprocess → Engineer Features → Train Models → Evaluate → Optimize Threshold → Explain with SHAP → Predict through Web Application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B4BE80C-0BE5-4D08-8B79-F8EE4B61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44" y="970280"/>
            <a:ext cx="4346948" cy="27330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81E4AC-AA65-4763-9632-B93AE06A5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148" y="980440"/>
            <a:ext cx="4207772" cy="273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Limitations &amp; Future Scope</a:t>
            </a:r>
            <a:endParaRPr lang="en-US" sz="2600" dirty="0"/>
          </a:p>
        </p:txBody>
      </p:sp>
      <p:sp>
        <p:nvSpPr>
          <p:cNvPr id="3" name="Limitations card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Current limitations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Predictions are risk estimates, not definitive proof of fraud.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Behavioral features depend on available transaction history.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Manually entered transactions may lack complete historical context.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Real-world fraud patterns may differ from the dataset.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Fraud patterns can change over time.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The application is a local prototype, not a production banking deployment.</a:t>
            </a:r>
            <a:endParaRPr lang="en-US" sz="1050" dirty="0"/>
          </a:p>
        </p:txBody>
      </p:sp>
      <p:sp>
        <p:nvSpPr>
          <p:cNvPr id="6" name="Future scope card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Integrate real-time transaction streams.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Add authentication and secure API communication.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Improve automatic historical feature generation.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Monitor model performance and data drift.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Retrain models as new transaction patterns emerge.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Explore richer behavioral analytics and additional models.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Deploy on scalable infrastructure after security and validation work.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Conclusion &amp; Key Achievements</a:t>
            </a:r>
            <a:endParaRPr lang="en-US" sz="2600" dirty="0"/>
          </a:p>
        </p:txBody>
      </p:sp>
      <p:sp>
        <p:nvSpPr>
          <p:cNvPr id="3" name="Achievements card"/>
          <p:cNvSpPr/>
          <p:nvPr/>
        </p:nvSpPr>
        <p:spPr>
          <a:xfrm>
            <a:off x="457200" y="1097280"/>
            <a:ext cx="521208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End-to-end machine learning-based credit card fraud detection prototype.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Processed more than 1.29 million training transactions; compared three classification models.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Selected XGBoost based on F1-score, ROC-AUC, and PR-AUC.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Optimized the classification threshold to 0.25.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F1-score 80.94% and recall 72.54% at the optimized threshold.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Web interface showing fraud probability, risk level, and contributing factors.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SHAP used to make predictions more interpretable.</a:t>
            </a:r>
            <a:endParaRPr lang="en-US" sz="1050" dirty="0"/>
          </a:p>
        </p:txBody>
      </p:sp>
      <p:sp>
        <p:nvSpPr>
          <p:cNvPr id="5" name="Pipeline chip 1"/>
          <p:cNvSpPr/>
          <p:nvPr/>
        </p:nvSpPr>
        <p:spPr>
          <a:xfrm>
            <a:off x="6035040" y="1097280"/>
            <a:ext cx="2651760" cy="36576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9525"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Data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463040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chemeClr val="accent1"/>
                </a:solidFill>
              </a:rPr>
              <a:t>▼</a:t>
            </a:r>
            <a:endParaRPr lang="en-US" sz="600" dirty="0"/>
          </a:p>
        </p:txBody>
      </p:sp>
      <p:sp>
        <p:nvSpPr>
          <p:cNvPr id="7" name="Pipeline chip 2"/>
          <p:cNvSpPr/>
          <p:nvPr/>
        </p:nvSpPr>
        <p:spPr>
          <a:xfrm>
            <a:off x="6035040" y="1554480"/>
            <a:ext cx="2651760" cy="36576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9525"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chemeClr val="accent1"/>
                </a:solidFill>
              </a:rPr>
              <a:t>▼</a:t>
            </a:r>
            <a:endParaRPr lang="en-US" sz="600" dirty="0"/>
          </a:p>
        </p:txBody>
      </p:sp>
      <p:sp>
        <p:nvSpPr>
          <p:cNvPr id="9" name="Pipeline chip 3"/>
          <p:cNvSpPr/>
          <p:nvPr/>
        </p:nvSpPr>
        <p:spPr>
          <a:xfrm>
            <a:off x="6035040" y="2011680"/>
            <a:ext cx="2651760" cy="36576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9525"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Model Comparison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377440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chemeClr val="accent1"/>
                </a:solidFill>
              </a:rPr>
              <a:t>▼</a:t>
            </a:r>
            <a:endParaRPr lang="en-US" sz="600" dirty="0"/>
          </a:p>
        </p:txBody>
      </p:sp>
      <p:sp>
        <p:nvSpPr>
          <p:cNvPr id="11" name="Pipeline chip 4"/>
          <p:cNvSpPr/>
          <p:nvPr/>
        </p:nvSpPr>
        <p:spPr>
          <a:xfrm>
            <a:off x="6035040" y="2468880"/>
            <a:ext cx="2651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9525"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XGBoost @ 0.25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834640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chemeClr val="accent1"/>
                </a:solidFill>
              </a:rPr>
              <a:t>▼</a:t>
            </a:r>
            <a:endParaRPr lang="en-US" sz="600" dirty="0"/>
          </a:p>
        </p:txBody>
      </p:sp>
      <p:sp>
        <p:nvSpPr>
          <p:cNvPr id="13" name="Pipeline chip 5"/>
          <p:cNvSpPr/>
          <p:nvPr/>
        </p:nvSpPr>
        <p:spPr>
          <a:xfrm>
            <a:off x="6035040" y="2926080"/>
            <a:ext cx="2651760" cy="36576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9525"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SHAP Explanations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291840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chemeClr val="accent1"/>
                </a:solidFill>
              </a:rPr>
              <a:t>▼</a:t>
            </a:r>
            <a:endParaRPr lang="en-US" sz="600" dirty="0"/>
          </a:p>
        </p:txBody>
      </p:sp>
      <p:sp>
        <p:nvSpPr>
          <p:cNvPr id="15" name="Pipeline chip 6"/>
          <p:cNvSpPr/>
          <p:nvPr/>
        </p:nvSpPr>
        <p:spPr>
          <a:xfrm>
            <a:off x="6035040" y="3383280"/>
            <a:ext cx="2651760" cy="36576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9525"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Web Application</a:t>
            </a:r>
            <a:endParaRPr lang="en-US" sz="1050" dirty="0"/>
          </a:p>
        </p:txBody>
      </p:sp>
      <p:sp>
        <p:nvSpPr>
          <p:cNvPr id="16" name="Closing takeaway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accent1"/>
                </a:solidFill>
              </a:rPr>
              <a:t>“This project combines machine learning, threshold optimization, and explainable AI to support informed credit card fraud risk assessment.”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91440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pic>
        <p:nvPicPr>
          <p:cNvPr id="3" name="Image 0" descr="Shiel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Questions &amp; Answers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023360" y="3520440"/>
            <a:ext cx="1097280" cy="3657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3703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Credit Card Fraud Detection System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Department of Information Technology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Aditya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Navy">
  <a:themeElements>
    <a:clrScheme name="FraudNavy">
      <a:dk1>
        <a:srgbClr val="0A1A33"/>
      </a:dk1>
      <a:lt1>
        <a:srgbClr val="FFFFFF"/>
      </a:lt1>
      <a:dk2>
        <a:srgbClr val="10284D"/>
      </a:dk2>
      <a:lt2>
        <a:srgbClr val="DCE9F7"/>
      </a:lt2>
      <a:accent1>
        <a:srgbClr val="22D3EE"/>
      </a:accent1>
      <a:accent2>
        <a:srgbClr val="3B82F6"/>
      </a:accent2>
      <a:accent3>
        <a:srgbClr val="7DD3FC"/>
      </a:accent3>
      <a:accent4>
        <a:srgbClr val="F59E0B"/>
      </a:accent4>
      <a:accent5>
        <a:srgbClr val="94A3B8"/>
      </a:accent5>
      <a:accent6>
        <a:srgbClr val="34D399"/>
      </a:accent6>
      <a:hlink>
        <a:srgbClr val="22D3EE"/>
      </a:hlink>
      <a:folHlink>
        <a:srgbClr val="94A3B8"/>
      </a:folHlink>
    </a:clrScheme>
    <a:fontScheme name="Fraud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999</Words>
  <Application>Microsoft Office PowerPoint</Application>
  <PresentationFormat>On-screen Show (16:9)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FraudNavy</vt:lpstr>
      <vt:lpstr>Credit Card Fraud Detection System</vt:lpstr>
      <vt:lpstr>Introduction &amp; Problem Statement</vt:lpstr>
      <vt:lpstr>Dataset &amp; Preprocessing</vt:lpstr>
      <vt:lpstr>Model Development &amp; Performance Comparison</vt:lpstr>
      <vt:lpstr>Why We Selected XGBoost</vt:lpstr>
      <vt:lpstr>System Architecture</vt:lpstr>
      <vt:lpstr>Implementation Workflow &amp; Execution</vt:lpstr>
      <vt:lpstr>Limitations &amp; Future Scope</vt:lpstr>
      <vt:lpstr>Conclusion &amp; Key Achievements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System</dc:title>
  <dc:subject>PptxGenJS Presentation</dc:subject>
  <dc:creator>Team — Aditya University IT</dc:creator>
  <cp:lastModifiedBy>24B11IT097</cp:lastModifiedBy>
  <cp:revision>4</cp:revision>
  <dcterms:created xsi:type="dcterms:W3CDTF">2026-10-18T12:12:22Z</dcterms:created>
  <dcterms:modified xsi:type="dcterms:W3CDTF">2026-10-26T05:48:02Z</dcterms:modified>
</cp:coreProperties>
</file>